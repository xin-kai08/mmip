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733" autoAdjust="0"/>
  </p:normalViewPr>
  <p:slideViewPr>
    <p:cSldViewPr snapToGrid="0">
      <p:cViewPr varScale="1">
        <p:scale>
          <a:sx n="75" d="100"/>
          <a:sy n="75" d="100"/>
        </p:scale>
        <p:origin x="9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我的</a:t>
            </a:r>
            <a:r>
              <a:rPr lang="zh-TW" altLang="en-US" dirty="0"/>
              <a:t>期中專案</a:t>
            </a:r>
            <a:r>
              <a:rPr dirty="0" err="1"/>
              <a:t>是循物，讓使用者上傳照片，同時取得垃圾種類與容器殘留狀態</a:t>
            </a:r>
            <a:r>
              <a:rPr lang="zh-TW" altLang="en-US" dirty="0"/>
              <a:t>，</a:t>
            </a:r>
            <a:r>
              <a:rPr dirty="0" err="1"/>
              <a:t>接下來簡單介紹設計與結果，最後現場操作網站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資料有十種物品、兩千五百張原圖，另外生成四十八張殘留圖片</a:t>
            </a:r>
            <a:r>
              <a:rPr lang="zh-TW" altLang="en-US" dirty="0"/>
              <a:t>，</a:t>
            </a:r>
            <a:r>
              <a:rPr dirty="0" err="1"/>
              <a:t>我全部審過，再由工具與AI協助複核和記錄</a:t>
            </a:r>
            <a:r>
              <a:rPr lang="zh-TW" altLang="en-US" dirty="0"/>
              <a:t>，</a:t>
            </a:r>
            <a:r>
              <a:rPr dirty="0" err="1"/>
              <a:t>看不清楚不會直接當成乾淨</a:t>
            </a:r>
            <a:r>
              <a:rPr dirty="0"/>
              <a:t>。</a:t>
            </a:r>
            <a:endParaRPr lang="en-US" dirty="0"/>
          </a:p>
          <a:p>
            <a:r>
              <a:rPr dirty="0" err="1"/>
              <a:t>資料先分訓練、驗證和測試，訓練資料再分兩批</a:t>
            </a:r>
            <a:r>
              <a:rPr lang="zh-TW" altLang="en-US" dirty="0"/>
              <a:t>，</a:t>
            </a:r>
            <a:r>
              <a:rPr dirty="0" err="1"/>
              <a:t>原圖與它的生成版本留在同一組，避免相似圖片洩漏到測試集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模型用預訓練EfficientNet-B0擷取共用特徵，後面接兩個四分類頭。</a:t>
            </a:r>
            <a:endParaRPr lang="en-US" dirty="0"/>
          </a:p>
          <a:p>
            <a:r>
              <a:rPr dirty="0" err="1"/>
              <a:t>第一階段學垃圾分類，保存最佳權重，第二階段從它接著學殘留，同時繼續更新骨幹並凍結垃圾頭</a:t>
            </a:r>
            <a:r>
              <a:rPr dirty="0"/>
              <a:t>。</a:t>
            </a:r>
            <a:endParaRPr lang="en-US" dirty="0"/>
          </a:p>
          <a:p>
            <a:r>
              <a:rPr dirty="0" err="1"/>
              <a:t>使用交叉熵與AdamW，骨幹學習率較小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dirty="0" err="1"/>
              <a:t>因為第二階段骨幹仍改變，所以垃圾分類可能退步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這裡只看真實原圖，避免把生成圖混在一起解讀</a:t>
            </a:r>
            <a:r>
              <a:rPr lang="zh-TW" altLang="en-US" dirty="0"/>
              <a:t>，</a:t>
            </a:r>
            <a:r>
              <a:rPr dirty="0"/>
              <a:t>垃圾分類的Macro-F1從</a:t>
            </a:r>
            <a:r>
              <a:rPr lang="en-US" altLang="zh-TW" dirty="0"/>
              <a:t>94.02</a:t>
            </a:r>
            <a:r>
              <a:rPr dirty="0"/>
              <a:t>降到</a:t>
            </a:r>
            <a:r>
              <a:rPr lang="en-US" altLang="zh-TW" dirty="0"/>
              <a:t>91.57</a:t>
            </a:r>
            <a:r>
              <a:rPr dirty="0"/>
              <a:t>，殘留則達到</a:t>
            </a:r>
            <a:r>
              <a:rPr lang="en-US" altLang="zh-TW" dirty="0"/>
              <a:t>82.11</a:t>
            </a:r>
            <a:r>
              <a:rPr lang="zh-TW" altLang="en-US" dirty="0"/>
              <a:t>，</a:t>
            </a:r>
            <a:r>
              <a:rPr dirty="0" err="1"/>
              <a:t>這顯示第二階段確實學到新任務，也有部分遺忘</a:t>
            </a:r>
            <a:r>
              <a:rPr dirty="0"/>
              <a:t>。</a:t>
            </a:r>
            <a:endParaRPr lang="en-US" dirty="0"/>
          </a:p>
          <a:p>
            <a:r>
              <a:rPr dirty="0" err="1"/>
              <a:t>實拍泛化能力還需要更多測試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前端負責操作，透過API將圖片送到FastAPI</a:t>
            </a:r>
            <a:r>
              <a:rPr lang="zh-TW" altLang="en-US" dirty="0"/>
              <a:t>，</a:t>
            </a:r>
            <a:r>
              <a:rPr dirty="0" err="1"/>
              <a:t>後端先保存圖片與批次，再安排模型逐張辨識，將結果寫入SQLite，前端查詢進度後更新畫面</a:t>
            </a:r>
            <a:r>
              <a:rPr lang="zh-TW" altLang="en-US" dirty="0"/>
              <a:t>，</a:t>
            </a:r>
            <a:r>
              <a:rPr dirty="0" err="1"/>
              <a:t>歷史不用重新跑模型，直接查資料</a:t>
            </a:r>
            <a:r>
              <a:rPr lang="zh-TW" altLang="en-US" dirty="0"/>
              <a:t>庫，</a:t>
            </a:r>
            <a:r>
              <a:rPr dirty="0" err="1"/>
              <a:t>CSV是需要時匯出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我的主要貢獻是任務和規則設計、全量審圖，以及實驗與網站驗收</a:t>
            </a:r>
            <a:r>
              <a:rPr lang="zh-TW" altLang="en-US" dirty="0"/>
              <a:t>，</a:t>
            </a:r>
            <a:r>
              <a:rPr dirty="0" err="1"/>
              <a:t>我依老師方向規劃兩階段訓練，並透過實際操作找出人工回饋重複保存，以及預測前後答案容易混淆的問題</a:t>
            </a:r>
            <a:r>
              <a:rPr lang="zh-TW" altLang="en-US" dirty="0"/>
              <a:t>，</a:t>
            </a:r>
            <a:r>
              <a:rPr dirty="0" err="1"/>
              <a:t>程式撰寫、除錯與模型建議有大量AI協助，我負責提出需求並檢查是否符合目的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855B538-319D-4D3F-9974-B75CBA15D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9D2982C1-86C0-4A9B-894D-E255595AC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91491CC-8612-47D2-8888-9C5108D2C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659CB98-5FE5-414E-BF5B-0498D7479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2C0586C1-6E78-477F-B1AA-E27CAA720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AD5E2F59-8FA4-47E3-A8AE-B252A5B5F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8934021-CF6D-4244-9B91-DEA1914AC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BB6BD3C7-0BFF-4BC3-BD84-36B503AF025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A5C09A3-6646-4C75-8D6A-2FBCDB00A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8B830A9-B51C-4999-9B93-E6E2E5731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25CDDDE7-8E3D-4022-AB01-12BB834443C8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76325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rPr>
              <a:t>循物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F1E19CB-E4B6-4A31-B81F-27177F1DD066}"/>
              </a:ext>
            </a:extLst>
          </p:cNvPr>
          <p:cNvSpPr>
            <a:spLocks noGrp="1"/>
          </p:cNvSpPr>
          <p:nvPr/>
        </p:nvSpPr>
        <p:spPr>
          <a:xfrm>
            <a:off x="666750" y="6334125"/>
            <a:ext cx="8572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rPr>
              <a:t>循物   多模態影像資料處理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E97A9B7-4BD2-42BA-A137-81B4CCB4336B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9447F9F-FE9E-4518-9CC9-CF1CA8BD2203}"/>
              </a:ext>
            </a:extLst>
          </p:cNvPr>
          <p:cNvSpPr>
            <a:spLocks noGrp="1"/>
          </p:cNvSpPr>
          <p:nvPr/>
        </p:nvSpPr>
        <p:spPr>
          <a:xfrm>
            <a:off x="666750" y="1790700"/>
            <a:ext cx="1047750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3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3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3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3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3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3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3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3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3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3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43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rPr>
              <a:t>垃圾分類與容器殘留辨識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B0A636-158E-41DF-9FE9-C4E6A6AC5728}"/>
              </a:ext>
            </a:extLst>
          </p:cNvPr>
          <p:cNvSpPr>
            <a:spLocks noGrp="1"/>
          </p:cNvSpPr>
          <p:nvPr/>
        </p:nvSpPr>
        <p:spPr>
          <a:xfrm>
            <a:off x="714375" y="2924175"/>
            <a:ext cx="10096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4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4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4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4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4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4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4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4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4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4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rPr>
              <a:t>雙任務模型與本機辨識網站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9D51109-0AFE-44DC-9DA3-945F93FEBD5D}"/>
              </a:ext>
            </a:extLst>
          </p:cNvPr>
          <p:cNvSpPr>
            <a:spLocks noGrp="1"/>
          </p:cNvSpPr>
          <p:nvPr/>
        </p:nvSpPr>
        <p:spPr>
          <a:xfrm>
            <a:off x="714375" y="4400550"/>
            <a:ext cx="95250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1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rPr>
              <a:t>王薪愷   315832002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D276BC7-04BC-4E79-B270-C19FECA697E6}"/>
              </a:ext>
            </a:extLst>
          </p:cNvPr>
          <p:cNvSpPr>
            <a:spLocks noGrp="1"/>
          </p:cNvSpPr>
          <p:nvPr/>
        </p:nvSpPr>
        <p:spPr>
          <a:xfrm>
            <a:off x="714375" y="4953000"/>
            <a:ext cx="100012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8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rPr>
              <a:t>多模態影像資料處理   期中報告</a:t>
            </a:r>
          </a:p>
        </p:txBody>
      </p:sp>
    </p:spTree>
    <p:extLst>
      <p:ext uri="{BB962C8B-B14F-4D97-AF65-F5344CB8AC3E}">
        <p14:creationId xmlns:p14="http://schemas.microsoft.com/office/powerpoint/2010/main" val="1737844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1D69D3C-91BA-4852-A3A2-F01FE48E46A2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76325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rPr>
              <a:t>資料設計與審核流程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0A87AE-284C-442B-B62F-095B9E0BB372}"/>
              </a:ext>
            </a:extLst>
          </p:cNvPr>
          <p:cNvSpPr>
            <a:spLocks noGrp="1"/>
          </p:cNvSpPr>
          <p:nvPr/>
        </p:nvSpPr>
        <p:spPr>
          <a:xfrm>
            <a:off x="666750" y="6334125"/>
            <a:ext cx="8572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rPr>
              <a:t>循物   多模態影像資料處理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ADBE20-3662-47B1-8A70-B8AF8B309D4D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3D2BE5-36FA-40A0-8497-6B146A9F24C3}"/>
              </a:ext>
            </a:extLst>
          </p:cNvPr>
          <p:cNvSpPr>
            <a:spLocks noGrp="1"/>
          </p:cNvSpPr>
          <p:nvPr/>
        </p:nvSpPr>
        <p:spPr>
          <a:xfrm>
            <a:off x="666750" y="1466850"/>
            <a:ext cx="400050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52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52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52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52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52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52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52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52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52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52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52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2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rPr>
              <a:t>2,500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2CC953-CB40-4DB2-B689-AE9560E903B2}"/>
              </a:ext>
            </a:extLst>
          </p:cNvPr>
          <p:cNvSpPr>
            <a:spLocks noGrp="1"/>
          </p:cNvSpPr>
          <p:nvPr/>
        </p:nvSpPr>
        <p:spPr>
          <a:xfrm>
            <a:off x="714375" y="2409825"/>
            <a:ext cx="43815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1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rPr>
              <a:t>原圖／10 種物品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AFBD25-22AE-4572-A764-CA68822683D7}"/>
              </a:ext>
            </a:extLst>
          </p:cNvPr>
          <p:cNvSpPr>
            <a:spLocks noGrp="1"/>
          </p:cNvSpPr>
          <p:nvPr/>
        </p:nvSpPr>
        <p:spPr>
          <a:xfrm>
            <a:off x="6762750" y="1466850"/>
            <a:ext cx="400050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52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52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52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52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52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52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52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52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52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52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52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2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rPr>
              <a:t>48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17C6CFF-F926-41D9-8310-5256539CB176}"/>
              </a:ext>
            </a:extLst>
          </p:cNvPr>
          <p:cNvSpPr>
            <a:spLocks noGrp="1"/>
          </p:cNvSpPr>
          <p:nvPr/>
        </p:nvSpPr>
        <p:spPr>
          <a:xfrm>
            <a:off x="6810375" y="2409825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rPr>
              <a:t>已驗收生成圖／補充容器殘留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D8E475-0511-44BF-A93A-0D964BA2B56D}"/>
              </a:ext>
            </a:extLst>
          </p:cNvPr>
          <p:cNvSpPr>
            <a:spLocks noGrp="1"/>
          </p:cNvSpPr>
          <p:nvPr/>
        </p:nvSpPr>
        <p:spPr>
          <a:xfrm>
            <a:off x="714375" y="3286125"/>
            <a:ext cx="1057275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325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325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325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325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325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325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325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325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325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325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rPr>
              <a:t>人工全量審圖，區分可用、排除與不可判讀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C9E66B4-2FCB-4D1A-B096-01BEFC6D0AD9}"/>
              </a:ext>
            </a:extLst>
          </p:cNvPr>
          <p:cNvSpPr>
            <a:spLocks noGrp="1"/>
          </p:cNvSpPr>
          <p:nvPr/>
        </p:nvSpPr>
        <p:spPr>
          <a:xfrm>
            <a:off x="714375" y="4000500"/>
            <a:ext cx="10572750" cy="1476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rPr>
              <a:t>資料切分 70% 訓練、20% 驗證、10% 測試</a:t>
            </a:r>
          </a:p>
          <a:p>
            <a: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rPr>
              <a:t>訓練集再分兩批，分別執行兩階段訓練</a:t>
            </a:r>
          </a:p>
          <a:p>
            <a: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rPr>
              <a:t>原圖、生成版本與確認重複圖維持同組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2F1992C-7B37-481C-A131-1BC914463620}"/>
              </a:ext>
            </a:extLst>
          </p:cNvPr>
          <p:cNvSpPr>
            <a:spLocks noGrp="1"/>
          </p:cNvSpPr>
          <p:nvPr/>
        </p:nvSpPr>
        <p:spPr>
          <a:xfrm>
            <a:off x="714375" y="5695950"/>
            <a:ext cx="106680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65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rPr>
              <a:t>篩選與去重後可用 1,854 張；不是所有圖片都參與殘留訓練</a:t>
            </a:r>
          </a:p>
        </p:txBody>
      </p:sp>
    </p:spTree>
    <p:extLst>
      <p:ext uri="{BB962C8B-B14F-4D97-AF65-F5344CB8AC3E}">
        <p14:creationId xmlns:p14="http://schemas.microsoft.com/office/powerpoint/2010/main" val="710546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58424A5E-ADA5-4910-B7B8-B2FA5D2404B0}"/>
              </a:ext>
            </a:extLst>
          </p:cNvPr>
          <p:cNvCxnSpPr>
            <a:stCxn id="7" idx="3"/>
            <a:endCxn id="13" idx="1"/>
          </p:cNvCxnSpPr>
          <p:nvPr/>
        </p:nvCxnSpPr>
        <p:spPr>
          <a:xfrm>
            <a:off x="6905625" y="2095500"/>
            <a:ext cx="809625" cy="1000125"/>
          </a:xfrm>
          <a:prstGeom prst="bentConnector3">
            <a:avLst>
              <a:gd name="adj1" fmla="val 50000"/>
            </a:avLst>
          </a:prstGeom>
          <a:ln w="19050">
            <a:solidFill>
              <a:srgbClr val="236448"/>
            </a:solidFill>
            <a:tailEnd type="triangle" w="med" len="med"/>
          </a:ln>
        </p:spPr>
      </p:cxnSp>
      <p:cxnSp>
        <p:nvCxnSpPr>
          <p:cNvPr id="17" name="接點: 肘形 16">
            <a:extLst>
              <a:ext uri="{FF2B5EF4-FFF2-40B4-BE49-F238E27FC236}">
                <a16:creationId xmlns:a16="http://schemas.microsoft.com/office/drawing/2014/main" id="{471EA38B-4C89-4CBE-957A-96BACDA2B9B6}"/>
              </a:ext>
            </a:extLst>
          </p:cNvPr>
          <p:cNvCxnSpPr>
            <a:stCxn id="7" idx="3"/>
            <a:endCxn id="10" idx="1"/>
          </p:cNvCxnSpPr>
          <p:nvPr/>
        </p:nvCxnSpPr>
        <p:spPr>
          <a:xfrm flipV="1">
            <a:off x="6905625" y="1762125"/>
            <a:ext cx="809625" cy="333375"/>
          </a:xfrm>
          <a:prstGeom prst="bentConnector3">
            <a:avLst>
              <a:gd name="adj1" fmla="val 50000"/>
            </a:avLst>
          </a:prstGeom>
          <a:ln w="19050">
            <a:solidFill>
              <a:srgbClr val="236448"/>
            </a:solidFill>
            <a:tailEnd type="triangle" w="med" len="med"/>
          </a:ln>
        </p:spPr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3EB9365E-18F5-4B72-9545-E01CB5A00877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3143250" y="2095500"/>
            <a:ext cx="619125" cy="0"/>
          </a:xfrm>
          <a:prstGeom prst="straightConnector1">
            <a:avLst/>
          </a:prstGeom>
          <a:ln w="19050">
            <a:solidFill>
              <a:srgbClr val="236448"/>
            </a:solidFill>
            <a:tailEnd type="triangle" w="med" len="med"/>
          </a:ln>
        </p:spPr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57E7623E-4B94-4EE1-B594-2F9C0C9A1EC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76325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rPr>
              <a:t>共用骨幹、雙分類頭與兩階段訓練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46BAFAC-C959-40DE-BBFF-7D1FC3A94C29}"/>
              </a:ext>
            </a:extLst>
          </p:cNvPr>
          <p:cNvSpPr>
            <a:spLocks noGrp="1"/>
          </p:cNvSpPr>
          <p:nvPr/>
        </p:nvSpPr>
        <p:spPr>
          <a:xfrm>
            <a:off x="666750" y="6334125"/>
            <a:ext cx="8572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rPr>
              <a:t>循物   多模態影像資料處理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2E38D6D-CB16-4167-9BB0-1ECD3095889A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63B1362-EBD5-491D-8032-056F548B873E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2476500" cy="1143000"/>
          </a:xfrm>
          <a:prstGeom prst="rect">
            <a:avLst/>
          </a:prstGeom>
          <a:solidFill>
            <a:srgbClr val="E7EEDF"/>
          </a:solidFill>
          <a:ln w="9525">
            <a:solidFill>
              <a:srgbClr val="236448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09F1CC-9A55-49D5-BB67-A15A077B62B6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21336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rPr>
              <a:t>輸入照片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98E5AAA-6286-44C2-95EB-B0659518A43A}"/>
              </a:ext>
            </a:extLst>
          </p:cNvPr>
          <p:cNvSpPr>
            <a:spLocks noGrp="1"/>
          </p:cNvSpPr>
          <p:nvPr/>
        </p:nvSpPr>
        <p:spPr>
          <a:xfrm>
            <a:off x="838200" y="2105025"/>
            <a:ext cx="21336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rPr>
              <a:t>224×224，等比補邊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B19A91B-AE47-4A26-A222-568DE0B86679}"/>
              </a:ext>
            </a:extLst>
          </p:cNvPr>
          <p:cNvSpPr>
            <a:spLocks noGrp="1"/>
          </p:cNvSpPr>
          <p:nvPr/>
        </p:nvSpPr>
        <p:spPr>
          <a:xfrm>
            <a:off x="3762375" y="1524000"/>
            <a:ext cx="3143250" cy="1143000"/>
          </a:xfrm>
          <a:prstGeom prst="rect">
            <a:avLst/>
          </a:prstGeom>
          <a:solidFill>
            <a:srgbClr val="E7EEDF"/>
          </a:solidFill>
          <a:ln w="9525">
            <a:solidFill>
              <a:srgbClr val="236448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DE5CA6A-7757-4EB7-AB57-4B0F5FD80077}"/>
              </a:ext>
            </a:extLst>
          </p:cNvPr>
          <p:cNvSpPr>
            <a:spLocks noGrp="1"/>
          </p:cNvSpPr>
          <p:nvPr/>
        </p:nvSpPr>
        <p:spPr>
          <a:xfrm>
            <a:off x="3933825" y="1676400"/>
            <a:ext cx="28003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rPr>
              <a:t>EfficientNet-B0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1D019DD-1E8B-4F40-B8F3-EF46ACF57569}"/>
              </a:ext>
            </a:extLst>
          </p:cNvPr>
          <p:cNvSpPr>
            <a:spLocks noGrp="1"/>
          </p:cNvSpPr>
          <p:nvPr/>
        </p:nvSpPr>
        <p:spPr>
          <a:xfrm>
            <a:off x="3933825" y="2105025"/>
            <a:ext cx="28003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rPr>
              <a:t>ImageNet 預訓練骨幹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D1BF037-D02E-48B4-A76A-CA5AC538858B}"/>
              </a:ext>
            </a:extLst>
          </p:cNvPr>
          <p:cNvSpPr>
            <a:spLocks noGrp="1"/>
          </p:cNvSpPr>
          <p:nvPr/>
        </p:nvSpPr>
        <p:spPr>
          <a:xfrm>
            <a:off x="7715250" y="1285875"/>
            <a:ext cx="3810000" cy="952500"/>
          </a:xfrm>
          <a:prstGeom prst="rect">
            <a:avLst/>
          </a:prstGeom>
          <a:solidFill>
            <a:srgbClr val="E7EEDF"/>
          </a:solidFill>
          <a:ln w="9525">
            <a:solidFill>
              <a:srgbClr val="236448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FC9936E-44E1-49D9-BE6D-E02F96AC4F39}"/>
              </a:ext>
            </a:extLst>
          </p:cNvPr>
          <p:cNvSpPr>
            <a:spLocks noGrp="1"/>
          </p:cNvSpPr>
          <p:nvPr/>
        </p:nvSpPr>
        <p:spPr>
          <a:xfrm>
            <a:off x="7886700" y="1438275"/>
            <a:ext cx="34671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rPr>
              <a:t>垃圾分類頭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C062703-CDC4-475F-8A2A-FB95DE609A59}"/>
              </a:ext>
            </a:extLst>
          </p:cNvPr>
          <p:cNvSpPr>
            <a:spLocks noGrp="1"/>
          </p:cNvSpPr>
          <p:nvPr/>
        </p:nvSpPr>
        <p:spPr>
          <a:xfrm>
            <a:off x="7886700" y="1866900"/>
            <a:ext cx="34671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rPr>
              <a:t>一般／玻璃／廚餘／其他回收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3441439-BD24-400D-A58B-B01A9D24AB95}"/>
              </a:ext>
            </a:extLst>
          </p:cNvPr>
          <p:cNvSpPr>
            <a:spLocks noGrp="1"/>
          </p:cNvSpPr>
          <p:nvPr/>
        </p:nvSpPr>
        <p:spPr>
          <a:xfrm>
            <a:off x="7715250" y="2571750"/>
            <a:ext cx="3810000" cy="1047750"/>
          </a:xfrm>
          <a:prstGeom prst="rect">
            <a:avLst/>
          </a:prstGeom>
          <a:solidFill>
            <a:srgbClr val="E7EEDF"/>
          </a:solidFill>
          <a:ln w="9525">
            <a:solidFill>
              <a:srgbClr val="236448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2DAC713-6FB3-4D30-9327-6D5E3B381F02}"/>
              </a:ext>
            </a:extLst>
          </p:cNvPr>
          <p:cNvSpPr>
            <a:spLocks noGrp="1"/>
          </p:cNvSpPr>
          <p:nvPr/>
        </p:nvSpPr>
        <p:spPr>
          <a:xfrm>
            <a:off x="7886700" y="2724150"/>
            <a:ext cx="34671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rPr>
              <a:t>殘留分類頭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C6CEB80-2FFC-42B1-8E37-027D32262929}"/>
              </a:ext>
            </a:extLst>
          </p:cNvPr>
          <p:cNvSpPr>
            <a:spLocks noGrp="1"/>
          </p:cNvSpPr>
          <p:nvPr/>
        </p:nvSpPr>
        <p:spPr>
          <a:xfrm>
            <a:off x="7886700" y="3152775"/>
            <a:ext cx="34671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rPr>
              <a:t>無／食物／液體／不適用或不明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A8A443E-E177-443A-8B4F-011343F30719}"/>
              </a:ext>
            </a:extLst>
          </p:cNvPr>
          <p:cNvSpPr>
            <a:spLocks noGrp="1"/>
          </p:cNvSpPr>
          <p:nvPr/>
        </p:nvSpPr>
        <p:spPr>
          <a:xfrm>
            <a:off x="714375" y="4010025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rPr>
              <a:t>第一階段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4D000B3-06E7-4715-BD2B-0A8770D88BB3}"/>
              </a:ext>
            </a:extLst>
          </p:cNvPr>
          <p:cNvSpPr>
            <a:spLocks noGrp="1"/>
          </p:cNvSpPr>
          <p:nvPr/>
        </p:nvSpPr>
        <p:spPr>
          <a:xfrm>
            <a:off x="3048000" y="4010025"/>
            <a:ext cx="80962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rPr>
              <a:t>骨幹＋垃圾頭，選最佳驗證權重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BC37BD4-6E1C-4C39-9251-A85316EA95C0}"/>
              </a:ext>
            </a:extLst>
          </p:cNvPr>
          <p:cNvSpPr>
            <a:spLocks noGrp="1"/>
          </p:cNvSpPr>
          <p:nvPr/>
        </p:nvSpPr>
        <p:spPr>
          <a:xfrm>
            <a:off x="714375" y="45720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rPr>
              <a:t>第二階段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DEA65F-F243-4702-AC71-82BF9BF596DA}"/>
              </a:ext>
            </a:extLst>
          </p:cNvPr>
          <p:cNvSpPr>
            <a:spLocks noGrp="1"/>
          </p:cNvSpPr>
          <p:nvPr/>
        </p:nvSpPr>
        <p:spPr>
          <a:xfrm>
            <a:off x="3048000" y="4572000"/>
            <a:ext cx="80962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rPr>
              <a:t>載入最佳權重，更新骨幹＋殘留頭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04281A7-494F-4C26-9845-9C2DC3949847}"/>
              </a:ext>
            </a:extLst>
          </p:cNvPr>
          <p:cNvSpPr>
            <a:spLocks noGrp="1"/>
          </p:cNvSpPr>
          <p:nvPr/>
        </p:nvSpPr>
        <p:spPr>
          <a:xfrm>
            <a:off x="714375" y="5314950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8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rPr>
              <a:t>Cross-Entropy loss ／ AdamW ／ batch 8 ／ GTX 1650 4 GB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CE05ABA-BEA8-4C7A-98AA-19EFB68D2D2F}"/>
              </a:ext>
            </a:extLst>
          </p:cNvPr>
          <p:cNvSpPr>
            <a:spLocks noGrp="1"/>
          </p:cNvSpPr>
          <p:nvPr/>
        </p:nvSpPr>
        <p:spPr>
          <a:xfrm>
            <a:off x="714375" y="5781675"/>
            <a:ext cx="106680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72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rPr>
              <a:t>骨幹 LR 1e-5、分類頭 LR 1e-4；垃圾頭在第二階段凍結</a:t>
            </a:r>
          </a:p>
        </p:txBody>
      </p:sp>
    </p:spTree>
    <p:extLst>
      <p:ext uri="{BB962C8B-B14F-4D97-AF65-F5344CB8AC3E}">
        <p14:creationId xmlns:p14="http://schemas.microsoft.com/office/powerpoint/2010/main" val="469561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4F7737B-E5C5-4CF1-B92F-DABF60515C6B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76325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rPr>
              <a:t>第二階段學會殘留，也出現部分遺忘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3209C84-B364-467D-ADCE-74AF24FF7E48}"/>
              </a:ext>
            </a:extLst>
          </p:cNvPr>
          <p:cNvSpPr>
            <a:spLocks noGrp="1"/>
          </p:cNvSpPr>
          <p:nvPr/>
        </p:nvSpPr>
        <p:spPr>
          <a:xfrm>
            <a:off x="666750" y="6334125"/>
            <a:ext cx="8572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rPr>
              <a:t>循物   多模態影像資料處理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85E953F-562D-46F4-883A-EF22D87F2FBE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97C27A4-F16A-4258-B7F1-5E5981B81121}"/>
              </a:ext>
            </a:extLst>
          </p:cNvPr>
          <p:cNvGraphicFramePr/>
          <p:nvPr/>
        </p:nvGraphicFramePr>
        <p:xfrm>
          <a:off x="714375" y="1657350"/>
          <a:ext cx="10668000" cy="2333625"/>
        </p:xfrm>
        <a:graphic>
          <a:graphicData uri="http://schemas.openxmlformats.org/drawingml/2006/table">
            <a:tbl>
              <a:tblPr/>
              <a:tblGrid>
                <a:gridCol w="466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875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真實原圖測試</a:t>
                      </a:r>
                    </a:p>
                  </a:txBody>
                  <a:tcPr>
                    <a:solidFill>
                      <a:srgbClr val="2364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第一階段</a:t>
                      </a:r>
                    </a:p>
                  </a:txBody>
                  <a:tcPr>
                    <a:solidFill>
                      <a:srgbClr val="2364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第二階段</a:t>
                      </a:r>
                    </a:p>
                  </a:txBody>
                  <a:tcPr>
                    <a:solidFill>
                      <a:srgbClr val="2364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875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03B3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垃圾 Macro-F1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03B3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94.02%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03B3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91.57%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875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03B3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殘留 Macro-F1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03B3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尚未訓練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03B3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82.11%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EBC3CD56-A3A2-4108-AFA6-D36F67F914A9}"/>
              </a:ext>
            </a:extLst>
          </p:cNvPr>
          <p:cNvSpPr>
            <a:spLocks noGrp="1"/>
          </p:cNvSpPr>
          <p:nvPr/>
        </p:nvSpPr>
        <p:spPr>
          <a:xfrm>
            <a:off x="714375" y="4429125"/>
            <a:ext cx="10763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5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5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5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5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5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5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5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5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5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5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rPr>
              <a:t>垃圾 Macro-F1 下降約 2.45 個百分點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E816859-F795-4B29-BD1E-502714BD3EEA}"/>
              </a:ext>
            </a:extLst>
          </p:cNvPr>
          <p:cNvSpPr>
            <a:spLocks noGrp="1"/>
          </p:cNvSpPr>
          <p:nvPr/>
        </p:nvSpPr>
        <p:spPr>
          <a:xfrm>
            <a:off x="714375" y="5219700"/>
            <a:ext cx="1076325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8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rPr>
              <a:t>垃圾測試 176 張；殘留有效測試 108 張</a:t>
            </a:r>
          </a:p>
          <a:p>
            <a:pPr>
              <a:defRPr sz="18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rPr>
              <a:t>資料仍有近似圖待確認，後續以新拍照片檢查實用性</a:t>
            </a:r>
          </a:p>
        </p:txBody>
      </p:sp>
    </p:spTree>
    <p:extLst>
      <p:ext uri="{BB962C8B-B14F-4D97-AF65-F5344CB8AC3E}">
        <p14:creationId xmlns:p14="http://schemas.microsoft.com/office/powerpoint/2010/main" val="1477640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接點: 肘形 21">
            <a:extLst>
              <a:ext uri="{FF2B5EF4-FFF2-40B4-BE49-F238E27FC236}">
                <a16:creationId xmlns:a16="http://schemas.microsoft.com/office/drawing/2014/main" id="{0C888DAB-3BDC-44BB-A492-B9A97D874BDC}"/>
              </a:ext>
            </a:extLst>
          </p:cNvPr>
          <p:cNvCxnSpPr>
            <a:stCxn id="7" idx="2"/>
            <a:endCxn id="16" idx="0"/>
          </p:cNvCxnSpPr>
          <p:nvPr/>
        </p:nvCxnSpPr>
        <p:spPr>
          <a:xfrm>
            <a:off x="6238875" y="2857500"/>
            <a:ext cx="3762375" cy="10477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36448"/>
            </a:solidFill>
            <a:tailEnd type="triangle" w="med" len="med"/>
          </a:ln>
        </p:spPr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5DBE880C-2748-4283-AB2F-77196EDD57A0}"/>
              </a:ext>
            </a:extLst>
          </p:cNvPr>
          <p:cNvCxnSpPr>
            <a:stCxn id="7" idx="2"/>
            <a:endCxn id="13" idx="0"/>
          </p:cNvCxnSpPr>
          <p:nvPr/>
        </p:nvCxnSpPr>
        <p:spPr>
          <a:xfrm>
            <a:off x="6238875" y="2857500"/>
            <a:ext cx="0" cy="1047750"/>
          </a:xfrm>
          <a:prstGeom prst="straightConnector1">
            <a:avLst/>
          </a:prstGeom>
          <a:ln w="19050">
            <a:solidFill>
              <a:srgbClr val="236448"/>
            </a:solidFill>
            <a:tailEnd type="triangle" w="med" len="med"/>
          </a:ln>
        </p:spPr>
      </p:cxnSp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A4B804B3-F7A8-4C32-A3AE-C180001F9B63}"/>
              </a:ext>
            </a:extLst>
          </p:cNvPr>
          <p:cNvCxnSpPr>
            <a:stCxn id="7" idx="3"/>
            <a:endCxn id="10" idx="1"/>
          </p:cNvCxnSpPr>
          <p:nvPr/>
        </p:nvCxnSpPr>
        <p:spPr>
          <a:xfrm flipV="1">
            <a:off x="7810500" y="2238375"/>
            <a:ext cx="666750" cy="47625"/>
          </a:xfrm>
          <a:prstGeom prst="bentConnector3">
            <a:avLst>
              <a:gd name="adj1" fmla="val 50000"/>
            </a:avLst>
          </a:prstGeom>
          <a:ln w="19050">
            <a:solidFill>
              <a:srgbClr val="236448"/>
            </a:solidFill>
            <a:tailEnd type="triangle" w="med" len="med"/>
          </a:ln>
        </p:spPr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121A06B4-9892-46D5-B9D3-670403ADE980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3810000" y="2286000"/>
            <a:ext cx="857250" cy="0"/>
          </a:xfrm>
          <a:prstGeom prst="straightConnector1">
            <a:avLst/>
          </a:prstGeom>
          <a:ln w="19050">
            <a:solidFill>
              <a:srgbClr val="236448"/>
            </a:solidFill>
            <a:tailEnd type="triangle" w="med" len="med"/>
          </a:ln>
        </p:spPr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0A1866B1-26C7-4B59-A26C-872FAD15A25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76325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rPr>
              <a:t>網站架構與資料流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FF131E-6D4D-473F-A25D-DE40B9A1F2FF}"/>
              </a:ext>
            </a:extLst>
          </p:cNvPr>
          <p:cNvSpPr>
            <a:spLocks noGrp="1"/>
          </p:cNvSpPr>
          <p:nvPr/>
        </p:nvSpPr>
        <p:spPr>
          <a:xfrm>
            <a:off x="666750" y="6334125"/>
            <a:ext cx="8572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rPr>
              <a:t>循物   多模態影像資料處理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A096DF-7158-4A87-8C65-5A092C28DD15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0C7CBD5-6F7E-4DBF-9208-E14C74307840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3143250" cy="1143000"/>
          </a:xfrm>
          <a:prstGeom prst="rect">
            <a:avLst/>
          </a:prstGeom>
          <a:solidFill>
            <a:srgbClr val="E7EEDF"/>
          </a:solidFill>
          <a:ln w="9525">
            <a:solidFill>
              <a:srgbClr val="236448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7F3C0CD-C672-4E3B-8AA6-B98D2FF4CBAC}"/>
              </a:ext>
            </a:extLst>
          </p:cNvPr>
          <p:cNvSpPr>
            <a:spLocks noGrp="1"/>
          </p:cNvSpPr>
          <p:nvPr/>
        </p:nvSpPr>
        <p:spPr>
          <a:xfrm>
            <a:off x="838200" y="1866900"/>
            <a:ext cx="28003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rPr>
              <a:t>React 前端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6D867E-C9CE-4A10-8BDA-16839003DE5A}"/>
              </a:ext>
            </a:extLst>
          </p:cNvPr>
          <p:cNvSpPr>
            <a:spLocks noGrp="1"/>
          </p:cNvSpPr>
          <p:nvPr/>
        </p:nvSpPr>
        <p:spPr>
          <a:xfrm>
            <a:off x="838200" y="2295525"/>
            <a:ext cx="28003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rPr>
              <a:t>ID、多圖上傳、結果與歷史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08116C4-F6E9-4938-9A58-9F734F27F2FB}"/>
              </a:ext>
            </a:extLst>
          </p:cNvPr>
          <p:cNvSpPr>
            <a:spLocks noGrp="1"/>
          </p:cNvSpPr>
          <p:nvPr/>
        </p:nvSpPr>
        <p:spPr>
          <a:xfrm>
            <a:off x="4667250" y="1714500"/>
            <a:ext cx="3143250" cy="1143000"/>
          </a:xfrm>
          <a:prstGeom prst="rect">
            <a:avLst/>
          </a:prstGeom>
          <a:solidFill>
            <a:srgbClr val="E7EEDF"/>
          </a:solidFill>
          <a:ln w="9525">
            <a:solidFill>
              <a:srgbClr val="236448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8A49EB-ECC4-400C-A565-D5D36D9671EC}"/>
              </a:ext>
            </a:extLst>
          </p:cNvPr>
          <p:cNvSpPr>
            <a:spLocks noGrp="1"/>
          </p:cNvSpPr>
          <p:nvPr/>
        </p:nvSpPr>
        <p:spPr>
          <a:xfrm>
            <a:off x="4838700" y="1866900"/>
            <a:ext cx="28003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rPr>
              <a:t>FastAPI 後端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3308555-1C5A-4BC5-81C3-BA39285064A9}"/>
              </a:ext>
            </a:extLst>
          </p:cNvPr>
          <p:cNvSpPr>
            <a:spLocks noGrp="1"/>
          </p:cNvSpPr>
          <p:nvPr/>
        </p:nvSpPr>
        <p:spPr>
          <a:xfrm>
            <a:off x="4838700" y="2295525"/>
            <a:ext cx="28003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rPr>
              <a:t>檢查圖片、佇列與 API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6E56FBA-B599-44C2-96CA-853846B3205E}"/>
              </a:ext>
            </a:extLst>
          </p:cNvPr>
          <p:cNvSpPr>
            <a:spLocks noGrp="1"/>
          </p:cNvSpPr>
          <p:nvPr/>
        </p:nvSpPr>
        <p:spPr>
          <a:xfrm>
            <a:off x="8477250" y="1619250"/>
            <a:ext cx="3048000" cy="1238250"/>
          </a:xfrm>
          <a:prstGeom prst="rect">
            <a:avLst/>
          </a:prstGeom>
          <a:solidFill>
            <a:srgbClr val="E7EEDF"/>
          </a:solidFill>
          <a:ln w="9525">
            <a:solidFill>
              <a:srgbClr val="236448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F5B0ADD-86A5-4CB2-9FA9-3B095D0228B4}"/>
              </a:ext>
            </a:extLst>
          </p:cNvPr>
          <p:cNvSpPr>
            <a:spLocks noGrp="1"/>
          </p:cNvSpPr>
          <p:nvPr/>
        </p:nvSpPr>
        <p:spPr>
          <a:xfrm>
            <a:off x="8648700" y="1771650"/>
            <a:ext cx="27051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rPr>
              <a:t>PyTorch 模型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AC5F078-1E2C-40A2-B6C9-E93B1F599283}"/>
              </a:ext>
            </a:extLst>
          </p:cNvPr>
          <p:cNvSpPr>
            <a:spLocks noGrp="1"/>
          </p:cNvSpPr>
          <p:nvPr/>
        </p:nvSpPr>
        <p:spPr>
          <a:xfrm>
            <a:off x="8648700" y="2200275"/>
            <a:ext cx="27051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rPr>
              <a:t>逐張推論，回傳雙任務結果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4C7FEB5-D78B-42F1-B488-08C8E2FCE65B}"/>
              </a:ext>
            </a:extLst>
          </p:cNvPr>
          <p:cNvSpPr>
            <a:spLocks noGrp="1"/>
          </p:cNvSpPr>
          <p:nvPr/>
        </p:nvSpPr>
        <p:spPr>
          <a:xfrm>
            <a:off x="4667250" y="3905250"/>
            <a:ext cx="3143250" cy="1143000"/>
          </a:xfrm>
          <a:prstGeom prst="rect">
            <a:avLst/>
          </a:prstGeom>
          <a:solidFill>
            <a:srgbClr val="E7EEDF"/>
          </a:solidFill>
          <a:ln w="9525">
            <a:solidFill>
              <a:srgbClr val="236448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93448A2-440E-405C-AC5F-7572D9EEEACD}"/>
              </a:ext>
            </a:extLst>
          </p:cNvPr>
          <p:cNvSpPr>
            <a:spLocks noGrp="1"/>
          </p:cNvSpPr>
          <p:nvPr/>
        </p:nvSpPr>
        <p:spPr>
          <a:xfrm>
            <a:off x="4838700" y="4057650"/>
            <a:ext cx="28003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rPr>
              <a:t>SQLite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CA2FA75-642A-47DC-8F47-C5AE2B1667B7}"/>
              </a:ext>
            </a:extLst>
          </p:cNvPr>
          <p:cNvSpPr>
            <a:spLocks noGrp="1"/>
          </p:cNvSpPr>
          <p:nvPr/>
        </p:nvSpPr>
        <p:spPr>
          <a:xfrm>
            <a:off x="4838700" y="4486275"/>
            <a:ext cx="28003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rPr>
              <a:t>ID、預測、人工答案、版本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3DB842E-E346-410C-BC4B-9652A9D19365}"/>
              </a:ext>
            </a:extLst>
          </p:cNvPr>
          <p:cNvSpPr>
            <a:spLocks noGrp="1"/>
          </p:cNvSpPr>
          <p:nvPr/>
        </p:nvSpPr>
        <p:spPr>
          <a:xfrm>
            <a:off x="8477250" y="3905250"/>
            <a:ext cx="3048000" cy="1143000"/>
          </a:xfrm>
          <a:prstGeom prst="rect">
            <a:avLst/>
          </a:prstGeom>
          <a:solidFill>
            <a:srgbClr val="E7EEDF"/>
          </a:solidFill>
          <a:ln w="9525">
            <a:solidFill>
              <a:srgbClr val="236448"/>
            </a:solidFill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9BB873F-DF89-42BD-928F-6CC3B506A8F2}"/>
              </a:ext>
            </a:extLst>
          </p:cNvPr>
          <p:cNvSpPr>
            <a:spLocks noGrp="1"/>
          </p:cNvSpPr>
          <p:nvPr/>
        </p:nvSpPr>
        <p:spPr>
          <a:xfrm>
            <a:off x="8648700" y="4057650"/>
            <a:ext cx="27051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rPr>
              <a:t>圖片資料夾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42F75D2-2315-48ED-8AF1-1952E219C380}"/>
              </a:ext>
            </a:extLst>
          </p:cNvPr>
          <p:cNvSpPr>
            <a:spLocks noGrp="1"/>
          </p:cNvSpPr>
          <p:nvPr/>
        </p:nvSpPr>
        <p:spPr>
          <a:xfrm>
            <a:off x="8648700" y="4486275"/>
            <a:ext cx="27051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rPr>
              <a:t>保存上傳照片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702A010-46F3-4C2C-99BD-0C144A36DFF6}"/>
              </a:ext>
            </a:extLst>
          </p:cNvPr>
          <p:cNvSpPr>
            <a:spLocks noGrp="1"/>
          </p:cNvSpPr>
          <p:nvPr/>
        </p:nvSpPr>
        <p:spPr>
          <a:xfrm>
            <a:off x="714375" y="3324225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rPr>
              <a:t>API 回傳進度與結果，React 更新畫面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5B01A2-8E8D-411F-844E-E620F20853DC}"/>
              </a:ext>
            </a:extLst>
          </p:cNvPr>
          <p:cNvSpPr>
            <a:spLocks noGrp="1"/>
          </p:cNvSpPr>
          <p:nvPr/>
        </p:nvSpPr>
        <p:spPr>
          <a:xfrm>
            <a:off x="714375" y="5667375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80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rPr>
              <a:t>本機 127.0.0.1:8000；SQLite 保存紀錄，CSV 在匯出時產生</a:t>
            </a:r>
          </a:p>
        </p:txBody>
      </p:sp>
    </p:spTree>
    <p:extLst>
      <p:ext uri="{BB962C8B-B14F-4D97-AF65-F5344CB8AC3E}">
        <p14:creationId xmlns:p14="http://schemas.microsoft.com/office/powerpoint/2010/main" val="317959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AA17E84F-DE15-4405-B089-D0618BF8D35B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76325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rPr>
              <a:t>我的貢獻與 AI 協作分工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122556D-5B8D-4A05-9794-40696FA8DC23}"/>
              </a:ext>
            </a:extLst>
          </p:cNvPr>
          <p:cNvSpPr>
            <a:spLocks noGrp="1"/>
          </p:cNvSpPr>
          <p:nvPr/>
        </p:nvSpPr>
        <p:spPr>
          <a:xfrm>
            <a:off x="666750" y="6334125"/>
            <a:ext cx="8572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rPr>
              <a:t>循物   多模態影像資料處理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A609B3-CDAE-48B4-8400-25F87CFC736F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B2D8A88-B31F-46FD-B221-EFCD13386A9B}"/>
              </a:ext>
            </a:extLst>
          </p:cNvPr>
          <p:cNvSpPr>
            <a:spLocks noGrp="1"/>
          </p:cNvSpPr>
          <p:nvPr/>
        </p:nvSpPr>
        <p:spPr>
          <a:xfrm>
            <a:off x="714375" y="1524000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5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5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5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5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5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5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5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5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5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5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rPr>
              <a:t>我負責決策、資料審核與實際驗收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66CBE48-A466-42FC-B40A-AE4684ADE7E6}"/>
              </a:ext>
            </a:extLst>
          </p:cNvPr>
          <p:cNvSpPr>
            <a:spLocks noGrp="1"/>
          </p:cNvSpPr>
          <p:nvPr/>
        </p:nvSpPr>
        <p:spPr>
          <a:xfrm>
            <a:off x="714375" y="2381250"/>
            <a:ext cx="10763250" cy="2238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rPr>
              <a:t>定義垃圾與殘留雙任務，制定不可判讀的標註規則</a:t>
            </a:r>
          </a:p>
          <a:p>
            <a: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rPr>
              <a:t>全量審查原圖與生成圖，篩選生成來源與可用樣本</a:t>
            </a:r>
          </a:p>
          <a:p>
            <a: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rPr>
              <a:t>依老師方向規劃兩階段實驗，要求保存與比較權重</a:t>
            </a:r>
          </a:p>
          <a:p>
            <a:pPr>
              <a:def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rPr>
              <a:t>測試網站，發現重複回饋與 Ground Truth 流程問題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9C92C52-383E-4233-9772-2F4180A6BECB}"/>
              </a:ext>
            </a:extLst>
          </p:cNvPr>
          <p:cNvSpPr>
            <a:spLocks noGrp="1"/>
          </p:cNvSpPr>
          <p:nvPr/>
        </p:nvSpPr>
        <p:spPr>
          <a:xfrm>
            <a:off x="714375" y="5076825"/>
            <a:ext cx="2190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rPr>
              <a:t>AI 協助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59269D0-AE39-4738-A139-5010A6AC756D}"/>
              </a:ext>
            </a:extLst>
          </p:cNvPr>
          <p:cNvSpPr>
            <a:spLocks noGrp="1"/>
          </p:cNvSpPr>
          <p:nvPr/>
        </p:nvSpPr>
        <p:spPr>
          <a:xfrm>
            <a:off x="2619375" y="5076825"/>
            <a:ext cx="89535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rPr>
              <a:t>程式實作、模型選型建議、除錯與文件整理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812200E-C570-41EF-A461-316BC1483C64}"/>
              </a:ext>
            </a:extLst>
          </p:cNvPr>
          <p:cNvSpPr>
            <a:spLocks noGrp="1"/>
          </p:cNvSpPr>
          <p:nvPr/>
        </p:nvSpPr>
        <p:spPr>
          <a:xfrm>
            <a:off x="714375" y="5762625"/>
            <a:ext cx="106680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72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rPr>
              <a:t>後續：補實拍案例，檢查錯誤，再評估降低第二階段遺忘</a:t>
            </a:r>
          </a:p>
        </p:txBody>
      </p:sp>
    </p:spTree>
    <p:extLst>
      <p:ext uri="{BB962C8B-B14F-4D97-AF65-F5344CB8AC3E}">
        <p14:creationId xmlns:p14="http://schemas.microsoft.com/office/powerpoint/2010/main" val="539499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404BC7C5-686A-4BBA-9032-68BBE517B192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76325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rPr>
              <a:t>現場操作：上傳、辨識、人工確認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B69F9EE-4F50-4319-86A4-5DF144D4ECFF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02809D9-6D8D-48CE-ACCA-70C7D6637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15396" y="1381125"/>
            <a:ext cx="3294083" cy="447675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BE8CF43-9BEF-4E64-BAA6-2AB33AC880A6}"/>
              </a:ext>
            </a:extLst>
          </p:cNvPr>
          <p:cNvSpPr>
            <a:spLocks noGrp="1"/>
          </p:cNvSpPr>
          <p:nvPr/>
        </p:nvSpPr>
        <p:spPr>
          <a:xfrm>
            <a:off x="8334375" y="1714500"/>
            <a:ext cx="32385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36448"/>
                </a:solidFill>
                <a:latin typeface="Microsoft JhengHei"/>
                <a:ea typeface="Microsoft JhengHei"/>
                <a:cs typeface="Microsoft JhengHei"/>
              </a:rPr>
              <a:t>01  輸入 ID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239E6F7-4FDE-4EEA-B9C0-B0E3D9CA9F96}"/>
              </a:ext>
            </a:extLst>
          </p:cNvPr>
          <p:cNvSpPr>
            <a:spLocks noGrp="1"/>
          </p:cNvSpPr>
          <p:nvPr/>
        </p:nvSpPr>
        <p:spPr>
          <a:xfrm>
            <a:off x="8334375" y="2495550"/>
            <a:ext cx="32385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rPr>
              <a:t>02  上傳 2～3 張照片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1E7DBC1-37FC-43A8-A393-D23CC9AA9B61}"/>
              </a:ext>
            </a:extLst>
          </p:cNvPr>
          <p:cNvSpPr>
            <a:spLocks noGrp="1"/>
          </p:cNvSpPr>
          <p:nvPr/>
        </p:nvSpPr>
        <p:spPr>
          <a:xfrm>
            <a:off x="8334375" y="3429000"/>
            <a:ext cx="3238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rPr>
              <a:t>03  檢查雙任務結果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0D2EBAB-7193-46F9-BA35-1D2ACD35022B}"/>
              </a:ext>
            </a:extLst>
          </p:cNvPr>
          <p:cNvSpPr>
            <a:spLocks noGrp="1"/>
          </p:cNvSpPr>
          <p:nvPr/>
        </p:nvSpPr>
        <p:spPr>
          <a:xfrm>
            <a:off x="8334375" y="4362450"/>
            <a:ext cx="3238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03B31"/>
                </a:solidFill>
                <a:latin typeface="Microsoft JhengHei"/>
                <a:ea typeface="Microsoft JhengHei"/>
                <a:cs typeface="Microsoft JhengHei"/>
              </a:rPr>
              <a:t>04  人工回饋與歷史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D6D1168-3FC5-480B-92E6-69478D4E81A5}"/>
              </a:ext>
            </a:extLst>
          </p:cNvPr>
          <p:cNvSpPr>
            <a:spLocks noGrp="1"/>
          </p:cNvSpPr>
          <p:nvPr/>
        </p:nvSpPr>
        <p:spPr>
          <a:xfrm>
            <a:off x="8334375" y="5305425"/>
            <a:ext cx="3238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65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5796C"/>
                </a:solidFill>
                <a:latin typeface="Microsoft JhengHei"/>
                <a:ea typeface="Microsoft JhengHei"/>
                <a:cs typeface="Microsoft JhengHei"/>
              </a:rPr>
              <a:t>預測前 GT 與預測後回饋分開保存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E3E218F-76C9-48B0-9953-FA99842965E5}"/>
              </a:ext>
            </a:extLst>
          </p:cNvPr>
          <p:cNvSpPr txBox="1"/>
          <p:nvPr/>
        </p:nvSpPr>
        <p:spPr>
          <a:xfrm>
            <a:off x="1042481" y="6248400"/>
            <a:ext cx="10107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https://drive.google.com/file/d/1JPzPmaGocnuIyr1Rp-KXgaykVZNAZrkO/view?usp=sharing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088783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398</Words>
  <Application>Microsoft Office PowerPoint</Application>
  <DocSecurity>0</DocSecurity>
  <PresentationFormat>寬螢幕</PresentationFormat>
  <Paragraphs>96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0" baseType="lpstr">
      <vt:lpstr>Aptos</vt:lpstr>
      <vt:lpstr>Microsoft JhengHei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薪愷 王</cp:lastModifiedBy>
  <cp:revision>6</cp:revision>
  <dcterms:created xsi:type="dcterms:W3CDTF">2026-10-23T04:34:21Z</dcterms:created>
  <dcterms:modified xsi:type="dcterms:W3CDTF">2026-10-23T05:00:04Z</dcterms:modified>
</cp:coreProperties>
</file>